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extBox 100"/>
          <p:cNvSpPr txBox="1"/>
          <p:nvPr/>
        </p:nvSpPr>
        <p:spPr>
          <a:xfrm>
            <a:off x="2560320" y="480060"/>
            <a:ext cx="8290560" cy="411480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2754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第三课：梦想与现实的碰撞——大雄的担忧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121051" y="1900881"/>
            <a:ext cx="901370" cy="39877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2197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成功！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093924" y="1918828"/>
            <a:ext cx="2876177" cy="40012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2205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天哪，那如果我的公司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133907" y="2286000"/>
            <a:ext cx="2977116" cy="339328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1870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不小心落后了怎么办？是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8063023" y="2589609"/>
            <a:ext cx="2693581" cy="394382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2173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不是就彻底完蛋了？</a:t>
            </a:r>
          </a:p>
        </p:txBody>
      </p:sp>
      <p:sp>
        <p:nvSpPr>
          <p:cNvPr id="105" name="TextBox 105"/>
          <p:cNvSpPr txBox="1"/>
          <p:nvPr/>
        </p:nvSpPr>
        <p:spPr>
          <a:xfrm rot="265444">
            <a:off x="1161289" y="4310970"/>
            <a:ext cx="3514955" cy="1628036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8973" b="1" dirty="0">
                <a:ln w="114300" cap="rnd">
                  <a:solidFill>
                    <a:srgbClr val="F76E5C"/>
                  </a:solidFill>
                </a:ln>
                <a:noFill/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完蛋了！</a:t>
            </a:r>
          </a:p>
        </p:txBody>
      </p:sp>
      <p:sp>
        <p:nvSpPr>
          <p:cNvPr id="106" name="TextBox 106"/>
          <p:cNvSpPr txBox="1"/>
          <p:nvPr/>
        </p:nvSpPr>
        <p:spPr>
          <a:xfrm rot="265444">
            <a:off x="1161289" y="4310970"/>
            <a:ext cx="3514955" cy="1628036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8973" b="1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完蛋了！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3171970" y="5947178"/>
            <a:ext cx="1311501" cy="375033"/>
          </a:xfrm>
          <a:prstGeom prst="rect">
            <a:avLst/>
          </a:prstGeom>
          <a:noFill/>
        </p:spPr>
        <p:txBody>
          <a:bodyPr wrap="square" rtlCol="0" anchor="ctr" lIns="0" tIns="0" rIns="0" bIns="0">
            <a:normAutofit/>
          </a:bodyPr>
          <a:lstStyle/>
          <a:p>
            <a:pPr algn="l"/>
            <a:r>
              <a:rPr lang="zh-CN" sz="2067" dirty="0">
                <a:solidFill>
                  <a:srgbClr val="000000"/>
                </a:solidFill>
                <a:latin typeface="Source Han Sans SC" panose="020B0500000000000000"/>
                <a:ea typeface="Source Han Sans SC" panose="020B0500000000000000"/>
                <a:cs typeface="Source Han Sans SC" panose="020B0500000000000000"/>
              </a:rPr>
              <a:t>公司市值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